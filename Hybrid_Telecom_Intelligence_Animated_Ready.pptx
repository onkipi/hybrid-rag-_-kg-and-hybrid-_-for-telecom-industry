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9" r:id="rId4"/>
    <p:sldId id="261" r:id="rId5"/>
    <p:sldId id="258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52"/>
    <p:restoredTop sz="94704"/>
  </p:normalViewPr>
  <p:slideViewPr>
    <p:cSldViewPr snapToGrid="0" snapToObjects="1">
      <p:cViewPr varScale="1">
        <p:scale>
          <a:sx n="120" d="100"/>
          <a:sy n="120" d="100"/>
        </p:scale>
        <p:origin x="13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383BFE-968D-854C-8076-AB2A12CCB0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298C75-C110-B247-A680-34535DA07C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259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199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/>
              <a:t>Hybrid Telecom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1212" y="842918"/>
            <a:ext cx="195277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C8C8C8"/>
                </a:solidFill>
              </a:defRPr>
            </a:pPr>
            <a:r>
              <a:rPr lang="en-US" sz="2400" b="1" dirty="0">
                <a:solidFill>
                  <a:schemeClr val="bg1"/>
                </a:solidFill>
              </a:rPr>
              <a:t>Business Case</a:t>
            </a:r>
            <a:endParaRPr sz="2400" b="1" dirty="0">
              <a:solidFill>
                <a:schemeClr val="bg1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2649530"/>
            <a:ext cx="4114800" cy="2743200"/>
          </a:xfrm>
          <a:prstGeom prst="roundRect">
            <a:avLst/>
          </a:prstGeom>
          <a:solidFill>
            <a:srgbClr val="D9534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rPr dirty="0"/>
              <a:t>Strategic Challenges</a:t>
            </a:r>
          </a:p>
          <a:p>
            <a:endParaRPr dirty="0"/>
          </a:p>
          <a:p>
            <a:r>
              <a:rPr dirty="0"/>
              <a:t>• Rising Premium 5G Churn</a:t>
            </a:r>
          </a:p>
          <a:p>
            <a:r>
              <a:rPr dirty="0"/>
              <a:t>• Stagnant ARPU Growth</a:t>
            </a:r>
          </a:p>
          <a:p>
            <a:r>
              <a:rPr dirty="0"/>
              <a:t>• Metro Network Congestion</a:t>
            </a:r>
          </a:p>
          <a:p>
            <a:r>
              <a:rPr dirty="0"/>
              <a:t>• Regulatory Oversight</a:t>
            </a:r>
          </a:p>
          <a:p>
            <a:r>
              <a:rPr dirty="0"/>
              <a:t>• Competitive Pricing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649530"/>
            <a:ext cx="3931920" cy="2743200"/>
          </a:xfrm>
          <a:prstGeom prst="roundRect">
            <a:avLst/>
          </a:prstGeom>
          <a:solidFill>
            <a:srgbClr val="007B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FFFFFF"/>
                </a:solidFill>
              </a:defRPr>
            </a:pPr>
            <a:endParaRPr lang="en-US" dirty="0"/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rPr dirty="0"/>
              <a:t>Hybrid Intelligence Architecture</a:t>
            </a:r>
          </a:p>
          <a:p>
            <a:endParaRPr dirty="0"/>
          </a:p>
          <a:p>
            <a:r>
              <a:rPr dirty="0"/>
              <a:t>1. Vector Retrieval Intelligence</a:t>
            </a:r>
          </a:p>
          <a:p>
            <a:r>
              <a:rPr dirty="0"/>
              <a:t>2. Neo4j Knowledge Graph Reasoning</a:t>
            </a:r>
          </a:p>
          <a:p>
            <a:r>
              <a:rPr dirty="0"/>
              <a:t>3. Real-Time Web Intelligence</a:t>
            </a:r>
          </a:p>
          <a:p>
            <a:r>
              <a:rPr dirty="0"/>
              <a:t>4. Executive Structured Reporting</a:t>
            </a:r>
          </a:p>
          <a:p>
            <a:r>
              <a:rPr dirty="0"/>
              <a:t>Retrieval Order: Vector → KG → Web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43600"/>
            <a:ext cx="9144000" cy="91440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199" y="6077634"/>
            <a:ext cx="8229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dirty="0"/>
              <a:t>8–12% Churn Reduction | 6–10% ARPU Uplift | 15% Faster Decisions | 20% Better 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42B489-932F-1733-DB40-D6006D2D199D}"/>
              </a:ext>
            </a:extLst>
          </p:cNvPr>
          <p:cNvSpPr/>
          <p:nvPr/>
        </p:nvSpPr>
        <p:spPr>
          <a:xfrm>
            <a:off x="301084" y="1371600"/>
            <a:ext cx="8720253" cy="111735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00" b="1" dirty="0">
              <a:solidFill>
                <a:schemeClr val="bg1"/>
              </a:solidFill>
            </a:endParaRPr>
          </a:p>
          <a:p>
            <a:r>
              <a:rPr lang="en-US" sz="1000" b="1" dirty="0">
                <a:solidFill>
                  <a:schemeClr val="bg1"/>
                </a:solidFill>
              </a:rPr>
              <a:t>A multi-region telecom operator operating in a highly competitive 5G ecosystem faced: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chemeClr val="bg1">
                    <a:lumMod val="95000"/>
                  </a:schemeClr>
                </a:solidFill>
              </a:rPr>
              <a:t>Rising churn in premium 5G plans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chemeClr val="bg1">
                    <a:lumMod val="95000"/>
                  </a:schemeClr>
                </a:solidFill>
              </a:rPr>
              <a:t>Stagnating ARPU growth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chemeClr val="bg1">
                    <a:lumMod val="95000"/>
                  </a:schemeClr>
                </a:solidFill>
              </a:rPr>
              <a:t>Metro network congestion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chemeClr val="bg1">
                    <a:lumMod val="95000"/>
                  </a:schemeClr>
                </a:solidFill>
              </a:rPr>
              <a:t>Increasing regulatory oversight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chemeClr val="bg1">
                    <a:lumMod val="95000"/>
                  </a:schemeClr>
                </a:solidFill>
              </a:rPr>
              <a:t>Competitive pressure from aggressive pricing</a:t>
            </a:r>
          </a:p>
          <a:p>
            <a:pPr algn="ctr"/>
            <a:r>
              <a:rPr lang="en-US" sz="1000" b="1" dirty="0">
                <a:solidFill>
                  <a:srgbClr val="FFC000"/>
                </a:solidFill>
              </a:rPr>
              <a:t>Internal data existed across CRM, network logs, and regulatory reports — but insights were fragmented and reactive </a:t>
            </a:r>
            <a:r>
              <a:rPr lang="en-US" sz="1000" dirty="0"/>
              <a:t>→ </a:t>
            </a:r>
            <a:r>
              <a:rPr lang="en-US" sz="1000" b="1" dirty="0">
                <a:solidFill>
                  <a:srgbClr val="FFC000"/>
                </a:solidFill>
              </a:rPr>
              <a:t>Unified 5g Decision intelligence.</a:t>
            </a:r>
          </a:p>
          <a:p>
            <a:pPr algn="ctr"/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16414"/>
            <a:ext cx="868680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rPr dirty="0"/>
              <a:t>Strategic Intelligence Insights &amp; Executive 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4114800" cy="4939990"/>
          </a:xfrm>
          <a:prstGeom prst="roundRect">
            <a:avLst/>
          </a:prstGeom>
          <a:solidFill>
            <a:srgbClr val="6F42C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rPr dirty="0"/>
              <a:t>Key Causal Insights</a:t>
            </a:r>
          </a:p>
          <a:p>
            <a:endParaRPr dirty="0"/>
          </a:p>
          <a:p>
            <a:r>
              <a:rPr dirty="0"/>
              <a:t>• Premium 5G + Metro Congestion → 2x Churn</a:t>
            </a:r>
          </a:p>
          <a:p>
            <a:r>
              <a:rPr dirty="0"/>
              <a:t>• Competitor Price Cuts → 60-Day Churn Spike</a:t>
            </a:r>
          </a:p>
          <a:p>
            <a:r>
              <a:rPr dirty="0"/>
              <a:t>• Spectrum Caps → Limited Revenue Expansion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895707"/>
            <a:ext cx="3931920" cy="1645920"/>
          </a:xfrm>
          <a:prstGeom prst="roundRect">
            <a:avLst/>
          </a:prstGeom>
          <a:solidFill>
            <a:srgbClr val="D9534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rPr dirty="0"/>
              <a:t>Risks</a:t>
            </a:r>
          </a:p>
          <a:p>
            <a:r>
              <a:rPr dirty="0"/>
              <a:t>• Spectrum Constraints</a:t>
            </a:r>
          </a:p>
          <a:p>
            <a:r>
              <a:rPr dirty="0"/>
              <a:t>• Pricing Sensitivity</a:t>
            </a:r>
          </a:p>
          <a:p>
            <a:r>
              <a:rPr dirty="0"/>
              <a:t>• Vendor Dependency</a:t>
            </a:r>
          </a:p>
          <a:p>
            <a:r>
              <a:rPr dirty="0"/>
              <a:t>• Regulatory Penalties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4447327"/>
            <a:ext cx="3931920" cy="1645920"/>
          </a:xfrm>
          <a:prstGeom prst="roundRect">
            <a:avLst/>
          </a:prstGeom>
          <a:solidFill>
            <a:srgbClr val="28A74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rPr dirty="0"/>
              <a:t>Opportunities</a:t>
            </a:r>
          </a:p>
          <a:p>
            <a:r>
              <a:rPr dirty="0"/>
              <a:t>• Dynamic Pricing Intelligence</a:t>
            </a:r>
          </a:p>
          <a:p>
            <a:r>
              <a:rPr dirty="0"/>
              <a:t>• 5G Micro-Expansion</a:t>
            </a:r>
          </a:p>
          <a:p>
            <a:r>
              <a:rPr dirty="0"/>
              <a:t>• Vendor Renegotiation</a:t>
            </a:r>
          </a:p>
          <a:p>
            <a:r>
              <a:rPr dirty="0"/>
              <a:t>• Loyalty Incentives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02DD8-3A2E-8BCE-07FF-5933D67A6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93C8F6-9936-E598-D5EE-A1FEA9B04E08}"/>
              </a:ext>
            </a:extLst>
          </p:cNvPr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Integrated Decision Intelligence System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 Vector-Based Internal Insights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 Neo4j Knowledge Graph Reasoning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 Real-Time Web Intelligence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 Executive-Ready Strategic Reporting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A3A320-215D-CA10-91CB-F92F9F1FA8FF}"/>
              </a:ext>
            </a:extLst>
          </p:cNvPr>
          <p:cNvSpPr txBox="1"/>
          <p:nvPr/>
        </p:nvSpPr>
        <p:spPr>
          <a:xfrm>
            <a:off x="228600" y="116414"/>
            <a:ext cx="86868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rPr lang="en-US" dirty="0"/>
              <a:t>Telecom Hybrid Intelligence Platform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890C9-3DC2-4853-98ED-759202D8F840}"/>
              </a:ext>
            </a:extLst>
          </p:cNvPr>
          <p:cNvSpPr txBox="1"/>
          <p:nvPr/>
        </p:nvSpPr>
        <p:spPr>
          <a:xfrm>
            <a:off x="228600" y="848381"/>
            <a:ext cx="3747977" cy="46166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C8C8C8"/>
                </a:solidFill>
              </a:defRPr>
            </a:pPr>
            <a:r>
              <a:rPr lang="en-US" sz="2400" b="1" dirty="0">
                <a:solidFill>
                  <a:schemeClr val="accent1"/>
                </a:solidFill>
              </a:rPr>
              <a:t>C – Suite Overview</a:t>
            </a:r>
            <a:endParaRPr sz="24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4634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0E4BB-4A54-77C5-128D-FC55FB253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76B2F9-E8E0-3BF5-5B5B-863A344B6BD1}"/>
              </a:ext>
            </a:extLst>
          </p:cNvPr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0817E8-533B-764B-3B6B-BBD45A977A92}"/>
              </a:ext>
            </a:extLst>
          </p:cNvPr>
          <p:cNvSpPr txBox="1"/>
          <p:nvPr/>
        </p:nvSpPr>
        <p:spPr>
          <a:xfrm>
            <a:off x="228600" y="116414"/>
            <a:ext cx="86868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rPr lang="en-US" dirty="0"/>
              <a:t>System Architecture – Multi-Layer Intelligence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D3E5F7-5543-2304-5635-640D082B3FD5}"/>
              </a:ext>
            </a:extLst>
          </p:cNvPr>
          <p:cNvSpPr txBox="1"/>
          <p:nvPr/>
        </p:nvSpPr>
        <p:spPr>
          <a:xfrm>
            <a:off x="228600" y="848381"/>
            <a:ext cx="3747977" cy="46166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C8C8C8"/>
                </a:solidFill>
              </a:defRPr>
            </a:pPr>
            <a:r>
              <a:rPr lang="en-US" sz="2400" b="1" dirty="0">
                <a:solidFill>
                  <a:schemeClr val="accent1"/>
                </a:solidFill>
              </a:rPr>
              <a:t>C – Suite Overview</a:t>
            </a:r>
            <a:endParaRPr sz="2400" b="1" dirty="0">
              <a:solidFill>
                <a:schemeClr val="accent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0A2E0B-A11B-E936-81AD-96BD879DC1EC}"/>
              </a:ext>
            </a:extLst>
          </p:cNvPr>
          <p:cNvSpPr txBox="1"/>
          <p:nvPr/>
        </p:nvSpPr>
        <p:spPr>
          <a:xfrm>
            <a:off x="350874" y="1446028"/>
            <a:ext cx="774050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	Layer 1: Vector Retrieval (Internal Documents)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Layer 2: Knowledge Graph (Entity Relationships)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Layer 3: Real-Time Web Intelligence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Layer 4: Orchestration &amp; Executive Reporting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83FD7C-DC02-A4AD-7619-1E9D9CC9549A}"/>
              </a:ext>
            </a:extLst>
          </p:cNvPr>
          <p:cNvSpPr/>
          <p:nvPr/>
        </p:nvSpPr>
        <p:spPr>
          <a:xfrm>
            <a:off x="510363" y="3072809"/>
            <a:ext cx="8133907" cy="32748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err="1"/>
              <a:t>Github</a:t>
            </a:r>
            <a:r>
              <a:rPr lang="en-US" dirty="0"/>
              <a:t>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Onkipi</a:t>
            </a:r>
            <a:r>
              <a:rPr lang="en-US" dirty="0"/>
              <a:t>/Hybrid-RAG-_-KG-and-Hybrid-_-For-Telecom-Industry/tree/4cc329ff84510699b700ec4e7ccdd6215a53f527 </a:t>
            </a:r>
          </a:p>
        </p:txBody>
      </p:sp>
    </p:spTree>
    <p:extLst>
      <p:ext uri="{BB962C8B-B14F-4D97-AF65-F5344CB8AC3E}">
        <p14:creationId xmlns:p14="http://schemas.microsoft.com/office/powerpoint/2010/main" val="2165834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9450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Words>286</Words>
  <Application>Microsoft Macintosh PowerPoint</Application>
  <PresentationFormat>On-screen Show (4:3)</PresentationFormat>
  <Paragraphs>56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Office</cp:lastModifiedBy>
  <cp:revision>4</cp:revision>
  <dcterms:created xsi:type="dcterms:W3CDTF">2013-01-27T09:14:16Z</dcterms:created>
  <dcterms:modified xsi:type="dcterms:W3CDTF">2026-02-15T09:50:03Z</dcterms:modified>
  <cp:category/>
</cp:coreProperties>
</file>