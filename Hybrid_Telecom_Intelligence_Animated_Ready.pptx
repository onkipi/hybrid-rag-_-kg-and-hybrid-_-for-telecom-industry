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62" r:id="rId6"/>
    <p:sldId id="25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04"/>
  </p:normalViewPr>
  <p:slideViewPr>
    <p:cSldViewPr snapToGrid="0" snapToObjects="1">
      <p:cViewPr varScale="1">
        <p:scale>
          <a:sx n="120" d="100"/>
          <a:sy n="120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83BFE-968D-854C-8076-AB2A12CCB0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98C75-C110-B247-A680-34535DA07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5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99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Hybrid Telecom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12" y="842918"/>
            <a:ext cx="19527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rPr lang="en-US" sz="2400" b="1" dirty="0">
                <a:solidFill>
                  <a:schemeClr val="bg1"/>
                </a:solidFill>
              </a:rPr>
              <a:t>Business Case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649530"/>
            <a:ext cx="4114800" cy="2743200"/>
          </a:xfrm>
          <a:prstGeom prst="roundRect">
            <a:avLst/>
          </a:prstGeom>
          <a:solidFill>
            <a:srgbClr val="D953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Strategic Challenges</a:t>
            </a:r>
          </a:p>
          <a:p>
            <a:endParaRPr dirty="0"/>
          </a:p>
          <a:p>
            <a:r>
              <a:rPr dirty="0"/>
              <a:t>• Rising Premium 5G Churn</a:t>
            </a:r>
          </a:p>
          <a:p>
            <a:r>
              <a:rPr dirty="0"/>
              <a:t>• Stagnant ARPU Growth</a:t>
            </a:r>
          </a:p>
          <a:p>
            <a:r>
              <a:rPr dirty="0"/>
              <a:t>• Metro Network Congestion</a:t>
            </a:r>
          </a:p>
          <a:p>
            <a:r>
              <a:rPr dirty="0"/>
              <a:t>• Regulatory Oversight</a:t>
            </a:r>
          </a:p>
          <a:p>
            <a:r>
              <a:rPr dirty="0"/>
              <a:t>• Competitive Pricing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649530"/>
            <a:ext cx="3931920" cy="2743200"/>
          </a:xfrm>
          <a:prstGeom prst="roundRect">
            <a:avLst/>
          </a:prstGeom>
          <a:solidFill>
            <a:srgbClr val="007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Hybrid Intelligence Architecture</a:t>
            </a:r>
          </a:p>
          <a:p>
            <a:endParaRPr dirty="0"/>
          </a:p>
          <a:p>
            <a:r>
              <a:rPr dirty="0"/>
              <a:t>1. Vector Retrieval Intelligence</a:t>
            </a:r>
          </a:p>
          <a:p>
            <a:r>
              <a:rPr dirty="0"/>
              <a:t>2. Neo4j Knowledge Graph Reasoning</a:t>
            </a:r>
          </a:p>
          <a:p>
            <a:r>
              <a:rPr dirty="0"/>
              <a:t>3. Real-Time Web Intelligence</a:t>
            </a:r>
          </a:p>
          <a:p>
            <a:r>
              <a:rPr dirty="0"/>
              <a:t>4. Executive Structured Reporting</a:t>
            </a:r>
          </a:p>
          <a:p>
            <a:r>
              <a:rPr dirty="0"/>
              <a:t>Retrieval Order: Vector → KG →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199" y="6077634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8–12% Churn Reduction | 6–10% ARPU Uplift | 15% Faster Decisions | 20% Better Alignment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2B489-932F-1733-DB40-D6006D2D199D}"/>
              </a:ext>
            </a:extLst>
          </p:cNvPr>
          <p:cNvSpPr/>
          <p:nvPr/>
        </p:nvSpPr>
        <p:spPr>
          <a:xfrm>
            <a:off x="301084" y="1371600"/>
            <a:ext cx="8720253" cy="111735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A multi-region telecom operator operating in a highly competitive 5G ecosystem faced: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>
                    <a:lumMod val="95000"/>
                  </a:schemeClr>
                </a:solidFill>
              </a:rPr>
              <a:t>Rising churn in premium 5G plans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>
                    <a:lumMod val="95000"/>
                  </a:schemeClr>
                </a:solidFill>
              </a:rPr>
              <a:t>Stagnating ARPU 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>
                    <a:lumMod val="95000"/>
                  </a:schemeClr>
                </a:solidFill>
              </a:rPr>
              <a:t>Metro network congestion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>
                    <a:lumMod val="95000"/>
                  </a:schemeClr>
                </a:solidFill>
              </a:rPr>
              <a:t>Increasing regulatory oversight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>
                    <a:lumMod val="95000"/>
                  </a:schemeClr>
                </a:solidFill>
              </a:rPr>
              <a:t>Competitive pressure from aggressive pricing</a:t>
            </a:r>
          </a:p>
          <a:p>
            <a:pPr algn="ctr"/>
            <a:r>
              <a:rPr lang="en-US" sz="1000" b="1" dirty="0">
                <a:solidFill>
                  <a:srgbClr val="FFC000"/>
                </a:solidFill>
              </a:rPr>
              <a:t>Internal data existed across CRM, network logs, and regulatory reports — but insights were fragmented and reactive </a:t>
            </a:r>
            <a:r>
              <a:rPr lang="en-US" sz="1000" dirty="0"/>
              <a:t>→ </a:t>
            </a:r>
            <a:r>
              <a:rPr lang="en-US" sz="1000" b="1" dirty="0">
                <a:solidFill>
                  <a:srgbClr val="FFC000"/>
                </a:solidFill>
              </a:rPr>
              <a:t>Unified 5g Decision intelligence.</a:t>
            </a:r>
          </a:p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16414"/>
            <a:ext cx="8686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Strategic Intelligence Insights &amp; Executive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4939990"/>
          </a:xfrm>
          <a:prstGeom prst="roundRect">
            <a:avLst/>
          </a:prstGeom>
          <a:solidFill>
            <a:srgbClr val="6F42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Key Causal Insights</a:t>
            </a:r>
          </a:p>
          <a:p>
            <a:endParaRPr dirty="0"/>
          </a:p>
          <a:p>
            <a:r>
              <a:rPr dirty="0"/>
              <a:t>• Premium 5G + Metro Congestion → 2x Churn</a:t>
            </a:r>
          </a:p>
          <a:p>
            <a:r>
              <a:rPr dirty="0"/>
              <a:t>• Competitor Price Cuts → 60-Day Churn Spike</a:t>
            </a:r>
          </a:p>
          <a:p>
            <a:r>
              <a:rPr dirty="0"/>
              <a:t>• Spectrum Caps → Limited Revenue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95707"/>
            <a:ext cx="3931920" cy="1645920"/>
          </a:xfrm>
          <a:prstGeom prst="roundRect">
            <a:avLst/>
          </a:prstGeom>
          <a:solidFill>
            <a:srgbClr val="D953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Risks</a:t>
            </a:r>
          </a:p>
          <a:p>
            <a:r>
              <a:rPr dirty="0"/>
              <a:t>• Spectrum Constraints</a:t>
            </a:r>
          </a:p>
          <a:p>
            <a:r>
              <a:rPr dirty="0"/>
              <a:t>• Pricing Sensitivity</a:t>
            </a:r>
          </a:p>
          <a:p>
            <a:r>
              <a:rPr dirty="0"/>
              <a:t>• Vendor Dependency</a:t>
            </a:r>
          </a:p>
          <a:p>
            <a:r>
              <a:rPr dirty="0"/>
              <a:t>• Regulatory Penalties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4447327"/>
            <a:ext cx="3931920" cy="1645920"/>
          </a:xfrm>
          <a:prstGeom prst="roundRect">
            <a:avLst/>
          </a:prstGeom>
          <a:solidFill>
            <a:srgbClr val="28A7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Opportunities</a:t>
            </a:r>
          </a:p>
          <a:p>
            <a:r>
              <a:rPr dirty="0"/>
              <a:t>• Dynamic Pricing Intelligence</a:t>
            </a:r>
          </a:p>
          <a:p>
            <a:r>
              <a:rPr dirty="0"/>
              <a:t>• 5G Micro-Expansion</a:t>
            </a:r>
          </a:p>
          <a:p>
            <a:r>
              <a:rPr dirty="0"/>
              <a:t>• Vendor Renegotiation</a:t>
            </a:r>
          </a:p>
          <a:p>
            <a:r>
              <a:rPr dirty="0"/>
              <a:t>• Loyalty Incentives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02DD8-3A2E-8BCE-07FF-5933D67A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93C8F6-9936-E598-D5EE-A1FEA9B04E0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Decision Intelligence System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Vector-Based Internal Insights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Neo4j Knowledge Graph Reasoning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Real-Time Web Intelligence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Executive-Ready Strategic Reporting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3A320-215D-CA10-91CB-F92F9F1FA8FF}"/>
              </a:ext>
            </a:extLst>
          </p:cNvPr>
          <p:cNvSpPr txBox="1"/>
          <p:nvPr/>
        </p:nvSpPr>
        <p:spPr>
          <a:xfrm>
            <a:off x="228600" y="116414"/>
            <a:ext cx="8686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Telecom Hybrid Intelligence Platform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890C9-3DC2-4853-98ED-759202D8F840}"/>
              </a:ext>
            </a:extLst>
          </p:cNvPr>
          <p:cNvSpPr txBox="1"/>
          <p:nvPr/>
        </p:nvSpPr>
        <p:spPr>
          <a:xfrm>
            <a:off x="228600" y="848381"/>
            <a:ext cx="3747977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rPr lang="en-US" sz="2400" b="1" dirty="0">
                <a:solidFill>
                  <a:schemeClr val="accent1"/>
                </a:solidFill>
              </a:rPr>
              <a:t>C – Suite Overview</a:t>
            </a:r>
            <a:endParaRPr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63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E4BB-4A54-77C5-128D-FC55FB253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76B2F9-E8E0-3BF5-5B5B-863A344B6BD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817E8-533B-764B-3B6B-BBD45A977A92}"/>
              </a:ext>
            </a:extLst>
          </p:cNvPr>
          <p:cNvSpPr txBox="1"/>
          <p:nvPr/>
        </p:nvSpPr>
        <p:spPr>
          <a:xfrm>
            <a:off x="228600" y="116414"/>
            <a:ext cx="8686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System Architecture – Multi-Layer Intelligence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3E5F7-5543-2304-5635-640D082B3FD5}"/>
              </a:ext>
            </a:extLst>
          </p:cNvPr>
          <p:cNvSpPr txBox="1"/>
          <p:nvPr/>
        </p:nvSpPr>
        <p:spPr>
          <a:xfrm>
            <a:off x="228600" y="848381"/>
            <a:ext cx="3747977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rPr lang="en-US" sz="2400" b="1" dirty="0">
                <a:solidFill>
                  <a:schemeClr val="accent1"/>
                </a:solidFill>
              </a:rPr>
              <a:t>C – Suite Overview</a:t>
            </a:r>
            <a:endParaRPr sz="2400" b="1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A2E0B-A11B-E936-81AD-96BD879DC1EC}"/>
              </a:ext>
            </a:extLst>
          </p:cNvPr>
          <p:cNvSpPr txBox="1"/>
          <p:nvPr/>
        </p:nvSpPr>
        <p:spPr>
          <a:xfrm>
            <a:off x="350874" y="1446028"/>
            <a:ext cx="77405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	Layer 1: Vector Retrieval (Internal Documents)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Layer 2: Knowledge Graph (Entity Relationships)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Layer 3: Real-Time Web Intelligence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Layer 4: Orchestration &amp; Executive Reporting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3FD7C-DC02-A4AD-7619-1E9D9CC9549A}"/>
              </a:ext>
            </a:extLst>
          </p:cNvPr>
          <p:cNvSpPr/>
          <p:nvPr/>
        </p:nvSpPr>
        <p:spPr>
          <a:xfrm>
            <a:off x="510363" y="3072809"/>
            <a:ext cx="8133907" cy="32748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Github</a:t>
            </a:r>
            <a:r>
              <a:rPr lang="en-US" dirty="0"/>
              <a:t>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Onkipi</a:t>
            </a:r>
            <a:r>
              <a:rPr lang="en-US" dirty="0"/>
              <a:t>/Hybrid-RAG-_-KG-and-Hybrid-_-For-Telecom-Industry/tree/4cc329ff84510699b700ec4e7ccdd6215a53f527 </a:t>
            </a:r>
          </a:p>
        </p:txBody>
      </p:sp>
    </p:spTree>
    <p:extLst>
      <p:ext uri="{BB962C8B-B14F-4D97-AF65-F5344CB8AC3E}">
        <p14:creationId xmlns:p14="http://schemas.microsoft.com/office/powerpoint/2010/main" val="2165834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A214-078C-AD93-9AFA-3EF292C9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0FB7C0-0D97-2844-32E7-605FD9AC224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8DD00-39C8-1F28-0B36-B2A781465421}"/>
              </a:ext>
            </a:extLst>
          </p:cNvPr>
          <p:cNvSpPr txBox="1"/>
          <p:nvPr/>
        </p:nvSpPr>
        <p:spPr>
          <a:xfrm>
            <a:off x="228600" y="116414"/>
            <a:ext cx="8686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Sample Queries</a:t>
            </a:r>
            <a:endParaRPr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8B1C3CA-C79E-9B7F-79C3-3B55601D3D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464699"/>
              </p:ext>
            </p:extLst>
          </p:nvPr>
        </p:nvGraphicFramePr>
        <p:xfrm>
          <a:off x="606056" y="848381"/>
          <a:ext cx="7517218" cy="5637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858000" imgH="7759700" progId="Word.Document.12">
                  <p:embed/>
                </p:oleObj>
              </mc:Choice>
              <mc:Fallback>
                <p:oleObj name="Document" r:id="rId2" imgW="6858000" imgH="7759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6056" y="848381"/>
                        <a:ext cx="7517218" cy="5637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0457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45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288</Words>
  <Application>Microsoft Macintosh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5</cp:revision>
  <dcterms:created xsi:type="dcterms:W3CDTF">2013-01-27T09:14:16Z</dcterms:created>
  <dcterms:modified xsi:type="dcterms:W3CDTF">2026-02-15T09:54:58Z</dcterms:modified>
  <cp:category/>
</cp:coreProperties>
</file>